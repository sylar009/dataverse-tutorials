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Default Extension="png" ContentType="image/png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15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7"/>
  </p:notesMasterIdLst>
  <p:sldIdLst>
    <p:sldId id="256" r:id="rId2"/>
    <p:sldId id="258" r:id="rId3"/>
    <p:sldId id="259" r:id="rId4"/>
    <p:sldId id="260" r:id="rId5"/>
    <p:sldId id="261" r:id="rId6"/>
    <p:sldId id="262" r:id="rId7"/>
    <p:sldId id="263" r:id="rId8"/>
    <p:sldId id="264" r:id="rId9"/>
    <p:sldId id="265" r:id="rId10"/>
    <p:sldId id="266" r:id="rId11"/>
    <p:sldId id="267" r:id="rId12"/>
    <p:sldId id="268" r:id="rId13"/>
    <p:sldId id="269" r:id="rId14"/>
    <p:sldId id="270" r:id="rId15"/>
    <p:sldId id="257" r:id="rId16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79" d="100"/>
          <a:sy n="79" d="100"/>
        </p:scale>
        <p:origin x="-1061" y="-77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020B6F-6D38-4BA7-82C7-B3DBC0EBB546}" type="datetimeFigureOut">
              <a:rPr lang="en-US" smtClean="0"/>
              <a:pPr/>
              <a:t>1/31/2026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E45FF92-2650-4675-9E40-36907B04A1E2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75ED64-9649-4B99-A718-3B5AE61BAEB1}" type="datetime1">
              <a:rPr lang="en-US" smtClean="0"/>
              <a:pPr/>
              <a:t>1/31/2026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@dataversetutorials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3F729A-5DCB-444D-A2A9-90106431E7E0}" type="datetime1">
              <a:rPr lang="en-US" smtClean="0"/>
              <a:pPr/>
              <a:t>1/31/2026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@dataversetutorials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A18CB9-AE3E-43B5-8041-AF81C8CEC6F4}" type="datetime1">
              <a:rPr lang="en-US" smtClean="0"/>
              <a:pPr/>
              <a:t>1/31/2026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@dataversetutorials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60A1B1-AFCF-4800-B7C6-5A57939CA90A}" type="datetime1">
              <a:rPr lang="en-US" smtClean="0"/>
              <a:pPr/>
              <a:t>1/31/2026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@dataversetutorials</a:t>
            </a: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9A5EF0-70E2-484B-97E0-3F3D8A0BBD37}" type="datetime1">
              <a:rPr lang="en-US" smtClean="0"/>
              <a:pPr/>
              <a:t>1/31/2026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@dataversetutorials</a:t>
            </a:r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124340-B4B3-47CA-9A28-2D1927D2AABB}" type="datetime1">
              <a:rPr lang="en-US" smtClean="0"/>
              <a:pPr/>
              <a:t>1/31/2026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@dataversetutorials</a:t>
            </a:r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A875B3-43BC-4240-ADB0-02E0491858B5}" type="datetime1">
              <a:rPr lang="en-US" smtClean="0"/>
              <a:pPr/>
              <a:t>1/31/2026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@dataversetutorials</a:t>
            </a:r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D54E20-0949-4CBF-B2C7-4754E9E54BA2}" type="datetime1">
              <a:rPr lang="en-US" smtClean="0"/>
              <a:pPr/>
              <a:t>1/31/2026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@dataversetutorials</a:t>
            </a: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26D0B6-0584-49A0-A789-84AAE9A24FD7}" type="datetime1">
              <a:rPr lang="en-US" smtClean="0"/>
              <a:pPr/>
              <a:t>1/31/2026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@dataversetutorials</a:t>
            </a: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3634C0-DA23-4200-879A-91782AC43316}" type="datetime1">
              <a:rPr lang="en-US" smtClean="0"/>
              <a:pPr/>
              <a:t>1/31/2026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@dataversetutorials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71C02D-0541-4466-8689-2E12F84CD7E7}" type="datetime1">
              <a:rPr lang="en-US" smtClean="0"/>
              <a:pPr/>
              <a:t>1/31/2026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@dataversetutorials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3" cstate="print">
            <a:lum/>
          </a:blip>
          <a:srcRect/>
          <a:stretch>
            <a:fillRect l="-25000" r="-25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477C7EB-DC76-4D8E-A8D0-686ABE088EDD}" type="datetime1">
              <a:rPr lang="en-US" smtClean="0"/>
              <a:pPr/>
              <a:t>1/31/2026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 smtClean="0"/>
              <a:t>@dataversetutorials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b="1" dirty="0" smtClean="0">
                <a:solidFill>
                  <a:schemeClr val="bg1"/>
                </a:solidFill>
              </a:rPr>
              <a:t>Python Sets</a:t>
            </a:r>
            <a:endParaRPr lang="en-US" b="1" dirty="0">
              <a:solidFill>
                <a:schemeClr val="bg1"/>
              </a:solidFill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pPr algn="r"/>
            <a:r>
              <a:rPr lang="en-IN" dirty="0" smtClean="0">
                <a:solidFill>
                  <a:schemeClr val="bg1"/>
                </a:solidFill>
              </a:rPr>
              <a:t>DVT101 – Lecture </a:t>
            </a:r>
            <a:r>
              <a:rPr lang="en-IN" dirty="0" smtClean="0">
                <a:solidFill>
                  <a:schemeClr val="bg1"/>
                </a:solidFill>
              </a:rPr>
              <a:t>27</a:t>
            </a:r>
            <a:endParaRPr lang="en-IN" dirty="0" smtClean="0">
              <a:solidFill>
                <a:schemeClr val="bg1"/>
              </a:solidFill>
            </a:endParaRPr>
          </a:p>
          <a:p>
            <a:pPr algn="r"/>
            <a:r>
              <a:rPr lang="en-IN" dirty="0" smtClean="0">
                <a:solidFill>
                  <a:schemeClr val="bg1"/>
                </a:solidFill>
              </a:rPr>
              <a:t>- By </a:t>
            </a:r>
            <a:r>
              <a:rPr lang="en-IN" dirty="0" err="1" smtClean="0">
                <a:solidFill>
                  <a:schemeClr val="bg1"/>
                </a:solidFill>
              </a:rPr>
              <a:t>Dataverse</a:t>
            </a:r>
            <a:r>
              <a:rPr lang="en-IN" dirty="0" smtClean="0">
                <a:solidFill>
                  <a:schemeClr val="bg1"/>
                </a:solidFill>
              </a:rPr>
              <a:t> Tutorials</a:t>
            </a:r>
            <a:endParaRPr lang="en-US" dirty="0" smtClean="0">
              <a:solidFill>
                <a:schemeClr val="bg1"/>
              </a:solidFill>
            </a:endParaRPr>
          </a:p>
          <a:p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449027-C481-4ADD-819F-E0066DB13A61}" type="datetime1">
              <a:rPr lang="en-US" smtClean="0"/>
              <a:pPr/>
              <a:t>1/31/2026</a:t>
            </a:fld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@dataversetutorials</a:t>
            </a:r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 smtClean="0">
                <a:solidFill>
                  <a:schemeClr val="bg1"/>
                </a:solidFill>
              </a:rPr>
              <a:t>Introduction</a:t>
            </a:r>
            <a:endParaRPr lang="en-US" b="1" dirty="0">
              <a:solidFill>
                <a:schemeClr val="bg1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>
                <a:solidFill>
                  <a:schemeClr val="bg1"/>
                </a:solidFill>
              </a:rPr>
              <a:t>What is a Python Set?</a:t>
            </a:r>
          </a:p>
          <a:p>
            <a:r>
              <a:rPr lang="en-US" dirty="0" smtClean="0">
                <a:solidFill>
                  <a:schemeClr val="bg1"/>
                </a:solidFill>
              </a:rPr>
              <a:t>Why Sets exist (uniqueness, speed, membership checks)</a:t>
            </a:r>
          </a:p>
          <a:p>
            <a:r>
              <a:rPr lang="en-US" dirty="0" smtClean="0">
                <a:solidFill>
                  <a:schemeClr val="bg1"/>
                </a:solidFill>
              </a:rPr>
              <a:t>Real-life analogy: Unique ID list</a:t>
            </a:r>
          </a:p>
          <a:p>
            <a:r>
              <a:rPr lang="en-US" dirty="0" smtClean="0">
                <a:solidFill>
                  <a:schemeClr val="bg1"/>
                </a:solidFill>
              </a:rPr>
              <a:t>Where sets are used (data cleaning, analytics, security)</a:t>
            </a:r>
          </a:p>
          <a:p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3F729A-5DCB-444D-A2A9-90106431E7E0}" type="datetime1">
              <a:rPr lang="en-US" smtClean="0"/>
              <a:pPr/>
              <a:t>1/31/2026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@dataversetutorials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2</a:t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 smtClean="0">
                <a:solidFill>
                  <a:schemeClr val="bg1"/>
                </a:solidFill>
              </a:rPr>
              <a:t>Core Properties of Sets</a:t>
            </a:r>
            <a:endParaRPr lang="en-US" b="1" dirty="0">
              <a:solidFill>
                <a:schemeClr val="bg1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>
                <a:solidFill>
                  <a:schemeClr val="bg1"/>
                </a:solidFill>
              </a:rPr>
              <a:t>Unordered collection</a:t>
            </a:r>
          </a:p>
          <a:p>
            <a:r>
              <a:rPr lang="en-US" dirty="0" smtClean="0">
                <a:solidFill>
                  <a:schemeClr val="bg1"/>
                </a:solidFill>
              </a:rPr>
              <a:t>No duplicate elements</a:t>
            </a:r>
          </a:p>
          <a:p>
            <a:r>
              <a:rPr lang="en-US" dirty="0" smtClean="0">
                <a:solidFill>
                  <a:schemeClr val="bg1"/>
                </a:solidFill>
              </a:rPr>
              <a:t>Mutable (but elements must be immutable)</a:t>
            </a:r>
          </a:p>
          <a:p>
            <a:r>
              <a:rPr lang="en-US" dirty="0" err="1" smtClean="0">
                <a:solidFill>
                  <a:schemeClr val="bg1"/>
                </a:solidFill>
              </a:rPr>
              <a:t>Unindexed</a:t>
            </a:r>
            <a:r>
              <a:rPr lang="en-US" dirty="0" smtClean="0">
                <a:solidFill>
                  <a:schemeClr val="bg1"/>
                </a:solidFill>
              </a:rPr>
              <a:t> (no positions)</a:t>
            </a:r>
          </a:p>
          <a:p>
            <a:r>
              <a:rPr lang="en-US" dirty="0" smtClean="0">
                <a:solidFill>
                  <a:schemeClr val="bg1"/>
                </a:solidFill>
              </a:rPr>
              <a:t>Implemented using hash tables</a:t>
            </a:r>
          </a:p>
          <a:p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3F729A-5DCB-444D-A2A9-90106431E7E0}" type="datetime1">
              <a:rPr lang="en-US" smtClean="0"/>
              <a:pPr/>
              <a:t>1/31/2026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@dataversetutorials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3</a:t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 smtClean="0">
                <a:solidFill>
                  <a:schemeClr val="bg1"/>
                </a:solidFill>
              </a:rPr>
              <a:t>Creating a Set (Curly Braces)</a:t>
            </a:r>
            <a:endParaRPr lang="en-US" b="1" dirty="0">
              <a:solidFill>
                <a:schemeClr val="bg1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>
                <a:solidFill>
                  <a:schemeClr val="bg1"/>
                </a:solidFill>
              </a:rPr>
              <a:t>Create set using { }</a:t>
            </a:r>
          </a:p>
          <a:p>
            <a:r>
              <a:rPr lang="en-US" dirty="0" smtClean="0">
                <a:solidFill>
                  <a:schemeClr val="bg1"/>
                </a:solidFill>
              </a:rPr>
              <a:t>Automatic duplicate removal</a:t>
            </a:r>
          </a:p>
          <a:p>
            <a:r>
              <a:rPr lang="en-US" dirty="0" smtClean="0">
                <a:solidFill>
                  <a:schemeClr val="bg1"/>
                </a:solidFill>
              </a:rPr>
              <a:t>Unordered output</a:t>
            </a:r>
          </a:p>
          <a:p>
            <a:r>
              <a:rPr lang="en-US" dirty="0" smtClean="0">
                <a:solidFill>
                  <a:schemeClr val="bg1"/>
                </a:solidFill>
              </a:rPr>
              <a:t>Program concept: uniqueness &amp; hash-based storage</a:t>
            </a:r>
          </a:p>
          <a:p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3F729A-5DCB-444D-A2A9-90106431E7E0}" type="datetime1">
              <a:rPr lang="en-US" smtClean="0"/>
              <a:pPr/>
              <a:t>1/31/2026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@dataversetutorials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4</a:t>
            </a:fld>
            <a:endParaRPr lang="en-US"/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838200" y="4495800"/>
            <a:ext cx="5867400" cy="1676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 smtClean="0">
                <a:solidFill>
                  <a:schemeClr val="bg1"/>
                </a:solidFill>
              </a:rPr>
              <a:t>Creating a Set using set()</a:t>
            </a:r>
            <a:endParaRPr lang="en-US" b="1" dirty="0">
              <a:solidFill>
                <a:schemeClr val="bg1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1"/>
            <a:ext cx="8229600" cy="2286000"/>
          </a:xfrm>
        </p:spPr>
        <p:txBody>
          <a:bodyPr>
            <a:normAutofit fontScale="92500" lnSpcReduction="20000"/>
          </a:bodyPr>
          <a:lstStyle/>
          <a:p>
            <a:r>
              <a:rPr lang="en-US" dirty="0" smtClean="0">
                <a:solidFill>
                  <a:schemeClr val="bg1"/>
                </a:solidFill>
              </a:rPr>
              <a:t>From string</a:t>
            </a:r>
          </a:p>
          <a:p>
            <a:r>
              <a:rPr lang="en-US" dirty="0" smtClean="0">
                <a:solidFill>
                  <a:schemeClr val="bg1"/>
                </a:solidFill>
              </a:rPr>
              <a:t>From list</a:t>
            </a:r>
          </a:p>
          <a:p>
            <a:r>
              <a:rPr lang="en-US" dirty="0" smtClean="0">
                <a:solidFill>
                  <a:schemeClr val="bg1"/>
                </a:solidFill>
              </a:rPr>
              <a:t>From </a:t>
            </a:r>
            <a:r>
              <a:rPr lang="en-US" dirty="0" err="1" smtClean="0">
                <a:solidFill>
                  <a:schemeClr val="bg1"/>
                </a:solidFill>
              </a:rPr>
              <a:t>tuple</a:t>
            </a:r>
            <a:endParaRPr lang="en-US" dirty="0" smtClean="0">
              <a:solidFill>
                <a:schemeClr val="bg1"/>
              </a:solidFill>
            </a:endParaRPr>
          </a:p>
          <a:p>
            <a:r>
              <a:rPr lang="en-US" dirty="0" smtClean="0">
                <a:solidFill>
                  <a:schemeClr val="bg1"/>
                </a:solidFill>
              </a:rPr>
              <a:t>From dictionary (keys only)</a:t>
            </a:r>
          </a:p>
          <a:p>
            <a:r>
              <a:rPr lang="en-US" dirty="0" smtClean="0">
                <a:solidFill>
                  <a:schemeClr val="bg1"/>
                </a:solidFill>
              </a:rPr>
              <a:t>Program concept: </a:t>
            </a:r>
            <a:r>
              <a:rPr lang="en-US" dirty="0" err="1" smtClean="0">
                <a:solidFill>
                  <a:schemeClr val="bg1"/>
                </a:solidFill>
              </a:rPr>
              <a:t>iterable</a:t>
            </a:r>
            <a:r>
              <a:rPr lang="en-US" dirty="0" smtClean="0">
                <a:solidFill>
                  <a:schemeClr val="bg1"/>
                </a:solidFill>
              </a:rPr>
              <a:t> → unique elements</a:t>
            </a:r>
          </a:p>
          <a:p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3F729A-5DCB-444D-A2A9-90106431E7E0}" type="datetime1">
              <a:rPr lang="en-US" smtClean="0"/>
              <a:pPr/>
              <a:t>1/31/2026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@dataversetutorials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5</a:t>
            </a:fld>
            <a:endParaRPr lang="en-US"/>
          </a:p>
        </p:txBody>
      </p:sp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685800" y="3962400"/>
            <a:ext cx="6096000" cy="240057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b="1" dirty="0" smtClean="0">
                <a:solidFill>
                  <a:schemeClr val="bg1"/>
                </a:solidFill>
              </a:rPr>
              <a:t>Unordered, </a:t>
            </a:r>
            <a:r>
              <a:rPr lang="en-US" b="1" dirty="0" err="1" smtClean="0">
                <a:solidFill>
                  <a:schemeClr val="bg1"/>
                </a:solidFill>
              </a:rPr>
              <a:t>Unindexed</a:t>
            </a:r>
            <a:r>
              <a:rPr lang="en-US" b="1" dirty="0" smtClean="0">
                <a:solidFill>
                  <a:schemeClr val="bg1"/>
                </a:solidFill>
              </a:rPr>
              <a:t> &amp; Mutability</a:t>
            </a:r>
            <a:endParaRPr lang="en-US" b="1" dirty="0">
              <a:solidFill>
                <a:schemeClr val="bg1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4038600" cy="4525963"/>
          </a:xfrm>
        </p:spPr>
        <p:txBody>
          <a:bodyPr>
            <a:normAutofit fontScale="92500" lnSpcReduction="10000"/>
          </a:bodyPr>
          <a:lstStyle/>
          <a:p>
            <a:r>
              <a:rPr lang="en-US" dirty="0" smtClean="0">
                <a:solidFill>
                  <a:schemeClr val="bg1"/>
                </a:solidFill>
              </a:rPr>
              <a:t>Order not guaranteed</a:t>
            </a:r>
          </a:p>
          <a:p>
            <a:r>
              <a:rPr lang="en-US" dirty="0" smtClean="0">
                <a:solidFill>
                  <a:schemeClr val="bg1"/>
                </a:solidFill>
              </a:rPr>
              <a:t>No indexing allowed</a:t>
            </a:r>
          </a:p>
          <a:p>
            <a:r>
              <a:rPr lang="en-US" dirty="0" smtClean="0">
                <a:solidFill>
                  <a:schemeClr val="bg1"/>
                </a:solidFill>
              </a:rPr>
              <a:t>Duplicate auto-removal</a:t>
            </a:r>
          </a:p>
          <a:p>
            <a:r>
              <a:rPr lang="en-US" dirty="0" err="1" smtClean="0">
                <a:solidFill>
                  <a:schemeClr val="bg1"/>
                </a:solidFill>
              </a:rPr>
              <a:t>TypeError</a:t>
            </a:r>
            <a:r>
              <a:rPr lang="en-US" dirty="0" smtClean="0">
                <a:solidFill>
                  <a:schemeClr val="bg1"/>
                </a:solidFill>
              </a:rPr>
              <a:t> on index access</a:t>
            </a:r>
          </a:p>
          <a:p>
            <a:r>
              <a:rPr lang="en-US" dirty="0" smtClean="0">
                <a:solidFill>
                  <a:schemeClr val="bg1"/>
                </a:solidFill>
              </a:rPr>
              <a:t>Program concept: hash structure behavior</a:t>
            </a:r>
          </a:p>
          <a:p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3F729A-5DCB-444D-A2A9-90106431E7E0}" type="datetime1">
              <a:rPr lang="en-US" smtClean="0"/>
              <a:pPr/>
              <a:t>1/31/2026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@dataversetutorials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6</a:t>
            </a:fld>
            <a:endParaRPr lang="en-US"/>
          </a:p>
        </p:txBody>
      </p:sp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3886200" y="2743200"/>
            <a:ext cx="4998720" cy="3124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 smtClean="0">
                <a:solidFill>
                  <a:schemeClr val="bg1"/>
                </a:solidFill>
              </a:rPr>
              <a:t>Adding Elements to a Set</a:t>
            </a:r>
            <a:endParaRPr lang="en-US" b="1" dirty="0">
              <a:solidFill>
                <a:schemeClr val="bg1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>
                <a:solidFill>
                  <a:schemeClr val="bg1"/>
                </a:solidFill>
              </a:rPr>
              <a:t>add() → single item</a:t>
            </a:r>
          </a:p>
          <a:p>
            <a:r>
              <a:rPr lang="en-US" dirty="0" smtClean="0">
                <a:solidFill>
                  <a:schemeClr val="bg1"/>
                </a:solidFill>
              </a:rPr>
              <a:t>update() → multiple items</a:t>
            </a:r>
          </a:p>
          <a:p>
            <a:r>
              <a:rPr lang="en-US" dirty="0" smtClean="0">
                <a:solidFill>
                  <a:schemeClr val="bg1"/>
                </a:solidFill>
              </a:rPr>
              <a:t>Mutability shown</a:t>
            </a:r>
          </a:p>
          <a:p>
            <a:r>
              <a:rPr lang="en-US" dirty="0" smtClean="0">
                <a:solidFill>
                  <a:schemeClr val="bg1"/>
                </a:solidFill>
              </a:rPr>
              <a:t>Program concept: dynamic growth</a:t>
            </a:r>
          </a:p>
          <a:p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3F729A-5DCB-444D-A2A9-90106431E7E0}" type="datetime1">
              <a:rPr lang="en-US" smtClean="0"/>
              <a:pPr/>
              <a:t>1/31/2026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@dataversetutorials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7</a:t>
            </a:fld>
            <a:endParaRPr lang="en-US"/>
          </a:p>
        </p:txBody>
      </p:sp>
      <p:pic>
        <p:nvPicPr>
          <p:cNvPr id="4098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2438400" y="3962400"/>
            <a:ext cx="4191000" cy="244784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 smtClean="0">
                <a:solidFill>
                  <a:schemeClr val="bg1"/>
                </a:solidFill>
              </a:rPr>
              <a:t>Accessing Elements in a Set</a:t>
            </a:r>
            <a:endParaRPr lang="en-US" b="1" dirty="0">
              <a:solidFill>
                <a:schemeClr val="bg1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1"/>
            <a:ext cx="8229600" cy="2133600"/>
          </a:xfrm>
        </p:spPr>
        <p:txBody>
          <a:bodyPr>
            <a:normAutofit fontScale="92500" lnSpcReduction="10000"/>
          </a:bodyPr>
          <a:lstStyle/>
          <a:p>
            <a:r>
              <a:rPr lang="en-US" dirty="0" smtClean="0">
                <a:solidFill>
                  <a:schemeClr val="bg1"/>
                </a:solidFill>
              </a:rPr>
              <a:t>Loop using for</a:t>
            </a:r>
          </a:p>
          <a:p>
            <a:r>
              <a:rPr lang="en-US" dirty="0" smtClean="0">
                <a:solidFill>
                  <a:schemeClr val="bg1"/>
                </a:solidFill>
              </a:rPr>
              <a:t>Membership check using in</a:t>
            </a:r>
          </a:p>
          <a:p>
            <a:r>
              <a:rPr lang="en-US" dirty="0" smtClean="0">
                <a:solidFill>
                  <a:schemeClr val="bg1"/>
                </a:solidFill>
              </a:rPr>
              <a:t>Unordered traversal</a:t>
            </a:r>
          </a:p>
          <a:p>
            <a:r>
              <a:rPr lang="en-US" dirty="0" smtClean="0">
                <a:solidFill>
                  <a:schemeClr val="bg1"/>
                </a:solidFill>
              </a:rPr>
              <a:t>Program concept: iteration without index</a:t>
            </a:r>
          </a:p>
          <a:p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3F729A-5DCB-444D-A2A9-90106431E7E0}" type="datetime1">
              <a:rPr lang="en-US" smtClean="0"/>
              <a:pPr/>
              <a:t>1/31/2026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@dataversetutorials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8</a:t>
            </a:fld>
            <a:endParaRPr lang="en-US"/>
          </a:p>
        </p:txBody>
      </p:sp>
      <p:pic>
        <p:nvPicPr>
          <p:cNvPr id="5122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142999" y="3657600"/>
            <a:ext cx="5955825" cy="2743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b="1" dirty="0" smtClean="0">
                <a:solidFill>
                  <a:schemeClr val="bg1"/>
                </a:solidFill>
              </a:rPr>
              <a:t>Removing Elements (remove &amp; discard)</a:t>
            </a:r>
            <a:endParaRPr lang="en-US" b="1" dirty="0">
              <a:solidFill>
                <a:schemeClr val="bg1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4038600" cy="4525963"/>
          </a:xfrm>
        </p:spPr>
        <p:txBody>
          <a:bodyPr/>
          <a:lstStyle/>
          <a:p>
            <a:r>
              <a:rPr lang="en-US" dirty="0" smtClean="0">
                <a:solidFill>
                  <a:schemeClr val="bg1"/>
                </a:solidFill>
              </a:rPr>
              <a:t>remove() → error if missing</a:t>
            </a:r>
          </a:p>
          <a:p>
            <a:r>
              <a:rPr lang="en-US" dirty="0" smtClean="0">
                <a:solidFill>
                  <a:schemeClr val="bg1"/>
                </a:solidFill>
              </a:rPr>
              <a:t>discard() → safe remove</a:t>
            </a:r>
          </a:p>
          <a:p>
            <a:r>
              <a:rPr lang="en-US" dirty="0" smtClean="0">
                <a:solidFill>
                  <a:schemeClr val="bg1"/>
                </a:solidFill>
              </a:rPr>
              <a:t>Error handling demo</a:t>
            </a:r>
          </a:p>
          <a:p>
            <a:r>
              <a:rPr lang="en-US" dirty="0" smtClean="0">
                <a:solidFill>
                  <a:schemeClr val="bg1"/>
                </a:solidFill>
              </a:rPr>
              <a:t>Program concept: controlled deletion</a:t>
            </a:r>
          </a:p>
          <a:p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3F729A-5DCB-444D-A2A9-90106431E7E0}" type="datetime1">
              <a:rPr lang="en-US" smtClean="0"/>
              <a:pPr/>
              <a:t>1/31/2026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@dataversetutorials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9</a:t>
            </a:fld>
            <a:endParaRPr lang="en-US"/>
          </a:p>
        </p:txBody>
      </p:sp>
      <p:pic>
        <p:nvPicPr>
          <p:cNvPr id="6146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4800600" y="1676400"/>
            <a:ext cx="3189674" cy="4648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 smtClean="0">
                <a:solidFill>
                  <a:schemeClr val="bg1"/>
                </a:solidFill>
              </a:rPr>
              <a:t>Removing Elements (pop &amp; clear)</a:t>
            </a:r>
            <a:endParaRPr lang="en-US" b="1" dirty="0">
              <a:solidFill>
                <a:schemeClr val="bg1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4038600" cy="4525963"/>
          </a:xfrm>
        </p:spPr>
        <p:txBody>
          <a:bodyPr/>
          <a:lstStyle/>
          <a:p>
            <a:r>
              <a:rPr lang="en-US" dirty="0" smtClean="0">
                <a:solidFill>
                  <a:schemeClr val="bg1"/>
                </a:solidFill>
              </a:rPr>
              <a:t>pop() → random element</a:t>
            </a:r>
          </a:p>
          <a:p>
            <a:r>
              <a:rPr lang="en-US" dirty="0" smtClean="0">
                <a:solidFill>
                  <a:schemeClr val="bg1"/>
                </a:solidFill>
              </a:rPr>
              <a:t>Error on empty set</a:t>
            </a:r>
          </a:p>
          <a:p>
            <a:r>
              <a:rPr lang="en-US" dirty="0" smtClean="0">
                <a:solidFill>
                  <a:schemeClr val="bg1"/>
                </a:solidFill>
              </a:rPr>
              <a:t>clear() → remove all</a:t>
            </a:r>
          </a:p>
          <a:p>
            <a:r>
              <a:rPr lang="en-US" dirty="0" smtClean="0">
                <a:solidFill>
                  <a:schemeClr val="bg1"/>
                </a:solidFill>
              </a:rPr>
              <a:t>Program concept: memory cleanup</a:t>
            </a:r>
          </a:p>
          <a:p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3F729A-5DCB-444D-A2A9-90106431E7E0}" type="datetime1">
              <a:rPr lang="en-US" smtClean="0"/>
              <a:pPr/>
              <a:t>1/31/2026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@dataversetutorials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10</a:t>
            </a:fld>
            <a:endParaRPr lang="en-US"/>
          </a:p>
        </p:txBody>
      </p:sp>
      <p:pic>
        <p:nvPicPr>
          <p:cNvPr id="7170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4419599" y="1752600"/>
            <a:ext cx="4342063" cy="426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 smtClean="0">
                <a:solidFill>
                  <a:schemeClr val="bg1"/>
                </a:solidFill>
              </a:rPr>
              <a:t>Frozen Sets</a:t>
            </a:r>
            <a:endParaRPr lang="en-US" b="1" dirty="0">
              <a:solidFill>
                <a:schemeClr val="bg1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>
                <a:solidFill>
                  <a:schemeClr val="bg1"/>
                </a:solidFill>
              </a:rPr>
              <a:t>Immutable version of set</a:t>
            </a:r>
          </a:p>
          <a:p>
            <a:r>
              <a:rPr lang="en-US" dirty="0" smtClean="0">
                <a:solidFill>
                  <a:schemeClr val="bg1"/>
                </a:solidFill>
              </a:rPr>
              <a:t>Cannot add/remove elements</a:t>
            </a:r>
          </a:p>
          <a:p>
            <a:r>
              <a:rPr lang="en-US" dirty="0" err="1" smtClean="0">
                <a:solidFill>
                  <a:schemeClr val="bg1"/>
                </a:solidFill>
              </a:rPr>
              <a:t>Hashable</a:t>
            </a:r>
            <a:endParaRPr lang="en-US" dirty="0" smtClean="0">
              <a:solidFill>
                <a:schemeClr val="bg1"/>
              </a:solidFill>
            </a:endParaRPr>
          </a:p>
          <a:p>
            <a:r>
              <a:rPr lang="en-US" dirty="0" smtClean="0">
                <a:solidFill>
                  <a:schemeClr val="bg1"/>
                </a:solidFill>
              </a:rPr>
              <a:t>Program concept: constant data structure</a:t>
            </a:r>
          </a:p>
          <a:p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3F729A-5DCB-444D-A2A9-90106431E7E0}" type="datetime1">
              <a:rPr lang="en-US" smtClean="0"/>
              <a:pPr/>
              <a:t>1/31/2026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@dataversetutorials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11</a:t>
            </a:fld>
            <a:endParaRPr lang="en-US"/>
          </a:p>
        </p:txBody>
      </p:sp>
      <p:pic>
        <p:nvPicPr>
          <p:cNvPr id="8194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685800" y="4267200"/>
            <a:ext cx="7780421" cy="1524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 smtClean="0">
                <a:solidFill>
                  <a:schemeClr val="bg1"/>
                </a:solidFill>
              </a:rPr>
              <a:t>Typecasting into Sets</a:t>
            </a:r>
            <a:endParaRPr lang="en-US" b="1" dirty="0">
              <a:solidFill>
                <a:schemeClr val="bg1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4114800" cy="4525963"/>
          </a:xfrm>
        </p:spPr>
        <p:txBody>
          <a:bodyPr/>
          <a:lstStyle/>
          <a:p>
            <a:r>
              <a:rPr lang="en-US" dirty="0" smtClean="0">
                <a:solidFill>
                  <a:schemeClr val="bg1"/>
                </a:solidFill>
              </a:rPr>
              <a:t>List → set</a:t>
            </a:r>
          </a:p>
          <a:p>
            <a:r>
              <a:rPr lang="en-US" dirty="0" smtClean="0">
                <a:solidFill>
                  <a:schemeClr val="bg1"/>
                </a:solidFill>
              </a:rPr>
              <a:t>String → set</a:t>
            </a:r>
          </a:p>
          <a:p>
            <a:r>
              <a:rPr lang="en-US" dirty="0" smtClean="0">
                <a:solidFill>
                  <a:schemeClr val="bg1"/>
                </a:solidFill>
              </a:rPr>
              <a:t>Dictionary → set (keys)</a:t>
            </a:r>
          </a:p>
          <a:p>
            <a:r>
              <a:rPr lang="en-US" dirty="0" smtClean="0">
                <a:solidFill>
                  <a:schemeClr val="bg1"/>
                </a:solidFill>
              </a:rPr>
              <a:t>Duplicate auto-removal</a:t>
            </a:r>
          </a:p>
          <a:p>
            <a:r>
              <a:rPr lang="en-US" dirty="0" smtClean="0">
                <a:solidFill>
                  <a:schemeClr val="bg1"/>
                </a:solidFill>
              </a:rPr>
              <a:t>Program concept: data cleaning</a:t>
            </a:r>
          </a:p>
          <a:p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3F729A-5DCB-444D-A2A9-90106431E7E0}" type="datetime1">
              <a:rPr lang="en-US" smtClean="0"/>
              <a:pPr/>
              <a:t>1/31/2026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@dataversetutorials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12</a:t>
            </a:fld>
            <a:endParaRPr lang="en-US"/>
          </a:p>
        </p:txBody>
      </p:sp>
      <p:pic>
        <p:nvPicPr>
          <p:cNvPr id="9218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4038600" y="1752600"/>
            <a:ext cx="4778860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 smtClean="0">
                <a:solidFill>
                  <a:schemeClr val="bg1"/>
                </a:solidFill>
              </a:rPr>
              <a:t>Real-World &amp; Industry Use Cases</a:t>
            </a:r>
            <a:endParaRPr lang="en-US" b="1" dirty="0">
              <a:solidFill>
                <a:schemeClr val="bg1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>
                <a:solidFill>
                  <a:schemeClr val="bg1"/>
                </a:solidFill>
              </a:rPr>
              <a:t>Removing duplicates from datasets</a:t>
            </a:r>
          </a:p>
          <a:p>
            <a:r>
              <a:rPr lang="en-US" dirty="0" smtClean="0">
                <a:solidFill>
                  <a:schemeClr val="bg1"/>
                </a:solidFill>
              </a:rPr>
              <a:t>Membership validation</a:t>
            </a:r>
          </a:p>
          <a:p>
            <a:r>
              <a:rPr lang="en-US" dirty="0" smtClean="0">
                <a:solidFill>
                  <a:schemeClr val="bg1"/>
                </a:solidFill>
              </a:rPr>
              <a:t>Network security </a:t>
            </a:r>
            <a:r>
              <a:rPr lang="en-US" dirty="0" err="1" smtClean="0">
                <a:solidFill>
                  <a:schemeClr val="bg1"/>
                </a:solidFill>
              </a:rPr>
              <a:t>whitelists</a:t>
            </a:r>
            <a:endParaRPr lang="en-US" dirty="0" smtClean="0">
              <a:solidFill>
                <a:schemeClr val="bg1"/>
              </a:solidFill>
            </a:endParaRPr>
          </a:p>
          <a:p>
            <a:r>
              <a:rPr lang="en-US" dirty="0" smtClean="0">
                <a:solidFill>
                  <a:schemeClr val="bg1"/>
                </a:solidFill>
              </a:rPr>
              <a:t>Data analytics pipelines</a:t>
            </a:r>
          </a:p>
          <a:p>
            <a:r>
              <a:rPr lang="en-US" dirty="0" smtClean="0">
                <a:solidFill>
                  <a:schemeClr val="bg1"/>
                </a:solidFill>
              </a:rPr>
              <a:t>Recommendation systems</a:t>
            </a:r>
          </a:p>
          <a:p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3F729A-5DCB-444D-A2A9-90106431E7E0}" type="datetime1">
              <a:rPr lang="en-US" smtClean="0"/>
              <a:pPr/>
              <a:t>1/31/2026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@dataversetutorials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13</a:t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 smtClean="0">
                <a:solidFill>
                  <a:schemeClr val="bg1"/>
                </a:solidFill>
              </a:rPr>
              <a:t>Summary &amp; Key Takeaways</a:t>
            </a:r>
            <a:endParaRPr lang="en-US" b="1" dirty="0">
              <a:solidFill>
                <a:schemeClr val="bg1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>
                <a:solidFill>
                  <a:schemeClr val="bg1"/>
                </a:solidFill>
              </a:rPr>
              <a:t>Sets = unique, unordered, fast</a:t>
            </a:r>
          </a:p>
          <a:p>
            <a:r>
              <a:rPr lang="en-US" dirty="0" smtClean="0">
                <a:solidFill>
                  <a:schemeClr val="bg1"/>
                </a:solidFill>
              </a:rPr>
              <a:t>No duplicates, no indexing</a:t>
            </a:r>
          </a:p>
          <a:p>
            <a:r>
              <a:rPr lang="en-US" dirty="0" smtClean="0">
                <a:solidFill>
                  <a:schemeClr val="bg1"/>
                </a:solidFill>
              </a:rPr>
              <a:t>Add, remove, check, iterate</a:t>
            </a:r>
          </a:p>
          <a:p>
            <a:r>
              <a:rPr lang="en-US" dirty="0" smtClean="0">
                <a:solidFill>
                  <a:schemeClr val="bg1"/>
                </a:solidFill>
              </a:rPr>
              <a:t>Frozen sets for immutability</a:t>
            </a:r>
          </a:p>
          <a:p>
            <a:r>
              <a:rPr lang="en-US" dirty="0" smtClean="0">
                <a:solidFill>
                  <a:schemeClr val="bg1"/>
                </a:solidFill>
              </a:rPr>
              <a:t>Powerful tool for data processing</a:t>
            </a:r>
          </a:p>
          <a:p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3F729A-5DCB-444D-A2A9-90106431E7E0}" type="datetime1">
              <a:rPr lang="en-US" smtClean="0"/>
              <a:pPr/>
              <a:t>1/31/2026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@dataversetutorials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14</a:t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3F729A-5DCB-444D-A2A9-90106431E7E0}" type="datetime1">
              <a:rPr lang="en-US" smtClean="0"/>
              <a:pPr/>
              <a:t>1/31/2026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@dataversetutorials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15</a:t>
            </a:fld>
            <a:endParaRPr lang="en-US"/>
          </a:p>
        </p:txBody>
      </p:sp>
      <p:pic>
        <p:nvPicPr>
          <p:cNvPr id="1027" name="Picture 3" descr="D:\DataVerse Tutorials\YouTube Icon Images and Videos\vecteezy_subscribe-button-collection-png-design-subscribe-button_13473771.png"/>
          <p:cNvPicPr>
            <a:picLocks noGrp="1" noChangeAspect="1" noChangeArrowheads="1"/>
          </p:cNvPicPr>
          <p:nvPr>
            <p:ph idx="1"/>
          </p:nvPr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219200" y="-304800"/>
            <a:ext cx="6987382" cy="6987382"/>
          </a:xfrm>
          <a:prstGeom prst="rect">
            <a:avLst/>
          </a:prstGeom>
          <a:noFill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148</TotalTime>
  <Words>387</Words>
  <Application>Microsoft Office PowerPoint</Application>
  <PresentationFormat>On-screen Show (4:3)</PresentationFormat>
  <Paragraphs>119</Paragraphs>
  <Slides>15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6" baseType="lpstr">
      <vt:lpstr>Office Theme</vt:lpstr>
      <vt:lpstr>Python Sets</vt:lpstr>
      <vt:lpstr>Introduction</vt:lpstr>
      <vt:lpstr>Core Properties of Sets</vt:lpstr>
      <vt:lpstr>Creating a Set (Curly Braces)</vt:lpstr>
      <vt:lpstr>Creating a Set using set()</vt:lpstr>
      <vt:lpstr>Unordered, Unindexed &amp; Mutability</vt:lpstr>
      <vt:lpstr>Adding Elements to a Set</vt:lpstr>
      <vt:lpstr>Accessing Elements in a Set</vt:lpstr>
      <vt:lpstr>Removing Elements (remove &amp; discard)</vt:lpstr>
      <vt:lpstr>Removing Elements (pop &amp; clear)</vt:lpstr>
      <vt:lpstr>Frozen Sets</vt:lpstr>
      <vt:lpstr>Typecasting into Sets</vt:lpstr>
      <vt:lpstr>Real-World &amp; Industry Use Cases</vt:lpstr>
      <vt:lpstr>Summary &amp; Key Takeaways</vt:lpstr>
      <vt:lpstr>Slide 15</vt:lpstr>
    </vt:vector>
  </TitlesOfParts>
  <Company/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Sanyam Lawania</dc:creator>
  <cp:lastModifiedBy>Sanyam Lawania</cp:lastModifiedBy>
  <cp:revision>18</cp:revision>
  <dcterms:created xsi:type="dcterms:W3CDTF">2006-08-16T00:00:00Z</dcterms:created>
  <dcterms:modified xsi:type="dcterms:W3CDTF">2026-01-31T10:55:03Z</dcterms:modified>
</cp:coreProperties>
</file>