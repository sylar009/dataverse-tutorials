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58" r:id="rId3"/>
    <p:sldId id="275" r:id="rId4"/>
    <p:sldId id="274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6" r:id="rId21"/>
    <p:sldId id="277" r:id="rId22"/>
    <p:sldId id="257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-1061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020B6F-6D38-4BA7-82C7-B3DBC0EBB546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45FF92-2650-4675-9E40-36907B04A1E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5ED64-9649-4B99-A718-3B5AE61BAEB1}" type="datetime1">
              <a:rPr lang="en-US" smtClean="0"/>
              <a:pPr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18CB9-AE3E-43B5-8041-AF81C8CEC6F4}" type="datetime1">
              <a:rPr lang="en-US" smtClean="0"/>
              <a:pPr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0A1B1-AFCF-4800-B7C6-5A57939CA90A}" type="datetime1">
              <a:rPr lang="en-US" smtClean="0"/>
              <a:pPr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A5EF0-70E2-484B-97E0-3F3D8A0BBD37}" type="datetime1">
              <a:rPr lang="en-US" smtClean="0"/>
              <a:pPr/>
              <a:t>2/14/2026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24340-B4B3-47CA-9A28-2D1927D2AABB}" type="datetime1">
              <a:rPr lang="en-US" smtClean="0"/>
              <a:pPr/>
              <a:t>2/14/2026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875B3-43BC-4240-ADB0-02E0491858B5}" type="datetime1">
              <a:rPr lang="en-US" smtClean="0"/>
              <a:pPr/>
              <a:t>2/14/2026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54E20-0949-4CBF-B2C7-4754E9E54BA2}" type="datetime1">
              <a:rPr lang="en-US" smtClean="0"/>
              <a:pPr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6D0B6-0584-49A0-A789-84AAE9A24FD7}" type="datetime1">
              <a:rPr lang="en-US" smtClean="0"/>
              <a:pPr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634C0-DA23-4200-879A-91782AC43316}" type="datetime1">
              <a:rPr lang="en-US" smtClean="0"/>
              <a:pPr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1C02D-0541-4466-8689-2E12F84CD7E7}" type="datetime1">
              <a:rPr lang="en-US" smtClean="0"/>
              <a:pPr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77C7EB-DC76-4D8E-A8D0-686ABE088EDD}" type="datetime1">
              <a:rPr lang="en-US" smtClean="0"/>
              <a:pPr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Python Built-in Exceptions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IN" dirty="0" smtClean="0">
                <a:solidFill>
                  <a:schemeClr val="bg1"/>
                </a:solidFill>
              </a:rPr>
              <a:t>DVT101 – Lecture </a:t>
            </a:r>
            <a:r>
              <a:rPr lang="en-IN" dirty="0" smtClean="0">
                <a:solidFill>
                  <a:schemeClr val="bg1"/>
                </a:solidFill>
              </a:rPr>
              <a:t>43</a:t>
            </a:r>
            <a:endParaRPr lang="en-IN" dirty="0" smtClean="0">
              <a:solidFill>
                <a:schemeClr val="bg1"/>
              </a:solidFill>
            </a:endParaRPr>
          </a:p>
          <a:p>
            <a:pPr algn="r"/>
            <a:r>
              <a:rPr lang="en-IN" dirty="0" smtClean="0">
                <a:solidFill>
                  <a:schemeClr val="bg1"/>
                </a:solidFill>
              </a:rPr>
              <a:t>- By </a:t>
            </a:r>
            <a:r>
              <a:rPr lang="en-IN" dirty="0" err="1" smtClean="0">
                <a:solidFill>
                  <a:schemeClr val="bg1"/>
                </a:solidFill>
              </a:rPr>
              <a:t>Dataverse</a:t>
            </a:r>
            <a:r>
              <a:rPr lang="en-IN" dirty="0" smtClean="0">
                <a:solidFill>
                  <a:schemeClr val="bg1"/>
                </a:solidFill>
              </a:rPr>
              <a:t> Tutorials</a:t>
            </a:r>
            <a:endParaRPr lang="en-US" dirty="0" smtClean="0">
              <a:solidFill>
                <a:schemeClr val="bg1"/>
              </a:solidFill>
            </a:endParaRP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49027-C481-4ADD-819F-E0066DB13A61}" type="datetime1">
              <a:rPr lang="en-US" smtClean="0"/>
              <a:pPr/>
              <a:t>2/15/2026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What are Built-in Exceptions in Python?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Meaning of exceptions in Python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Runtime error signaling mechanism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Why built-in exceptions exist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Role in debugging and stability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Why Understanding Built-in Exceptions Matters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Faster debugging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Predictable error handling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Writing defensive code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Production-ready applications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Python Exception Hierarchy 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Root of exception hierarchy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Parent–child relationship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Why hierarchy matters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Generic </a:t>
            </a:r>
            <a:r>
              <a:rPr lang="en-US" dirty="0" err="1" smtClean="0">
                <a:solidFill>
                  <a:schemeClr val="bg1"/>
                </a:solidFill>
              </a:rPr>
              <a:t>vs</a:t>
            </a:r>
            <a:r>
              <a:rPr lang="en-US" dirty="0" smtClean="0">
                <a:solidFill>
                  <a:schemeClr val="bg1"/>
                </a:solidFill>
              </a:rPr>
              <a:t> specific handling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>
                <a:solidFill>
                  <a:schemeClr val="bg1"/>
                </a:solidFill>
              </a:rPr>
              <a:t>BaseException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Base class of all exceptions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Rarely used directly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Foundation of error system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Why Python needs a root class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Exception Class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Parent of most runtime exceptions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Generic exception handling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When to catch Exception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Difference from </a:t>
            </a:r>
            <a:r>
              <a:rPr lang="en-US" dirty="0" err="1" smtClean="0">
                <a:solidFill>
                  <a:schemeClr val="bg1"/>
                </a:solidFill>
              </a:rPr>
              <a:t>BaseException</a:t>
            </a:r>
            <a:endParaRPr lang="en-US" dirty="0" smtClean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>
                <a:solidFill>
                  <a:schemeClr val="bg1"/>
                </a:solidFill>
              </a:rPr>
              <a:t>ArithmeticError</a:t>
            </a:r>
            <a:r>
              <a:rPr lang="en-US" b="1" dirty="0" smtClean="0">
                <a:solidFill>
                  <a:schemeClr val="bg1"/>
                </a:solidFill>
              </a:rPr>
              <a:t> Family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Purpose of arithmetic-related errors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Common subclasses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Group handling of math issues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When arithmetic errors occur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>
                <a:solidFill>
                  <a:schemeClr val="bg1"/>
                </a:solidFill>
              </a:rPr>
              <a:t>ZeroDivisionError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Meaning of division by zero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Mathematical invalid operation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Common beginner mistake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Safe handling strategy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>
                <a:solidFill>
                  <a:schemeClr val="bg1"/>
                </a:solidFill>
              </a:rPr>
              <a:t>OverflowError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Extremely large numeric results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Floating-point limitations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When overflow happens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Scientific and ML relevance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>
                <a:solidFill>
                  <a:schemeClr val="bg1"/>
                </a:solidFill>
              </a:rPr>
              <a:t>FloatingPointError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Floating-point computation failures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Silent </a:t>
            </a:r>
            <a:r>
              <a:rPr lang="en-US" dirty="0" err="1" smtClean="0">
                <a:solidFill>
                  <a:schemeClr val="bg1"/>
                </a:solidFill>
              </a:rPr>
              <a:t>vs</a:t>
            </a:r>
            <a:r>
              <a:rPr lang="en-US" dirty="0" smtClean="0">
                <a:solidFill>
                  <a:schemeClr val="bg1"/>
                </a:solidFill>
              </a:rPr>
              <a:t> explicit error handling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Library-controlled behavior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Numerical stability concerns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>
                <a:solidFill>
                  <a:schemeClr val="bg1"/>
                </a:solidFill>
              </a:rPr>
              <a:t>AssertionError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Purpose of assertions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Debugging assumptions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Testing and validation usage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Why assertions fail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>
                <a:solidFill>
                  <a:schemeClr val="bg1"/>
                </a:solidFill>
              </a:rPr>
              <a:t>AttributeError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114800" cy="4525963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Missing attributes in objects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Object-oriented misuse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Common class-related mistake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Safe attribute access mindset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0" y="1752600"/>
            <a:ext cx="3989408" cy="358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>
                <a:solidFill>
                  <a:schemeClr val="bg1"/>
                </a:solidFill>
              </a:rPr>
              <a:t>IndexError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114800" cy="4525963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Sequence boundary violations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List and </a:t>
            </a:r>
            <a:r>
              <a:rPr lang="en-US" dirty="0" err="1" smtClean="0">
                <a:solidFill>
                  <a:schemeClr val="bg1"/>
                </a:solidFill>
              </a:rPr>
              <a:t>tuple</a:t>
            </a:r>
            <a:r>
              <a:rPr lang="en-US" dirty="0" smtClean="0">
                <a:solidFill>
                  <a:schemeClr val="bg1"/>
                </a:solidFill>
              </a:rPr>
              <a:t> access issues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Loop-related mistakes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Defensive indexing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343400" y="2133600"/>
            <a:ext cx="4340629" cy="297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>
                <a:solidFill>
                  <a:schemeClr val="bg1"/>
                </a:solidFill>
              </a:rPr>
              <a:t>KeyError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1336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Dictionary key lookup failures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Difference from </a:t>
            </a:r>
            <a:r>
              <a:rPr lang="en-US" dirty="0" err="1" smtClean="0">
                <a:solidFill>
                  <a:schemeClr val="bg1"/>
                </a:solidFill>
              </a:rPr>
              <a:t>IndexError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Safe dictionary access patterns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Real-world data issues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00200" y="3657600"/>
            <a:ext cx="5715000" cy="27206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>
                <a:solidFill>
                  <a:schemeClr val="bg1"/>
                </a:solidFill>
              </a:rPr>
              <a:t>NameError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114800" cy="4525963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Undefined variables or functions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Scope-related mistakes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Typographical errors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Namespace awareness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19600" y="2362200"/>
            <a:ext cx="4512879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>
                <a:solidFill>
                  <a:schemeClr val="bg1"/>
                </a:solidFill>
              </a:rPr>
              <a:t>MemoryError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0574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Memory allocation failure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Large data structure risks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System resource limits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Big data caution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599" y="3581400"/>
            <a:ext cx="5736491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9600" y="5638800"/>
            <a:ext cx="3762632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err="1" smtClean="0">
                <a:solidFill>
                  <a:schemeClr val="bg1"/>
                </a:solidFill>
              </a:rPr>
              <a:t>OSError</a:t>
            </a:r>
            <a:r>
              <a:rPr lang="en-US" b="1" dirty="0" smtClean="0">
                <a:solidFill>
                  <a:schemeClr val="bg1"/>
                </a:solidFill>
              </a:rPr>
              <a:t> and File-related Exceptions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Operating system interaction failures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File and directory issues</a:t>
            </a:r>
          </a:p>
          <a:p>
            <a:r>
              <a:rPr lang="en-US" dirty="0" err="1" smtClean="0">
                <a:solidFill>
                  <a:schemeClr val="bg1"/>
                </a:solidFill>
              </a:rPr>
              <a:t>FileNotFoundError</a:t>
            </a:r>
            <a:r>
              <a:rPr lang="en-US" dirty="0" smtClean="0">
                <a:solidFill>
                  <a:schemeClr val="bg1"/>
                </a:solidFill>
              </a:rPr>
              <a:t> relationship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Robust file handling mindset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57400" y="3962400"/>
            <a:ext cx="5715000" cy="24881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>
                <a:solidFill>
                  <a:schemeClr val="bg1"/>
                </a:solidFill>
              </a:rPr>
              <a:t>StopIteration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114800" cy="4525963"/>
          </a:xfrm>
        </p:spPr>
        <p:txBody>
          <a:bodyPr/>
          <a:lstStyle/>
          <a:p>
            <a:r>
              <a:rPr lang="en-US" dirty="0" err="1" smtClean="0">
                <a:solidFill>
                  <a:schemeClr val="bg1"/>
                </a:solidFill>
              </a:rPr>
              <a:t>Iterator</a:t>
            </a:r>
            <a:r>
              <a:rPr lang="en-US" dirty="0" smtClean="0">
                <a:solidFill>
                  <a:schemeClr val="bg1"/>
                </a:solidFill>
              </a:rPr>
              <a:t> exhaustion signal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Loop termination mechanism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Internal role in for-loops</a:t>
            </a:r>
          </a:p>
          <a:p>
            <a:r>
              <a:rPr lang="en-US" dirty="0" err="1" smtClean="0">
                <a:solidFill>
                  <a:schemeClr val="bg1"/>
                </a:solidFill>
              </a:rPr>
              <a:t>Iterator</a:t>
            </a:r>
            <a:r>
              <a:rPr lang="en-US" dirty="0" smtClean="0">
                <a:solidFill>
                  <a:schemeClr val="bg1"/>
                </a:solidFill>
              </a:rPr>
              <a:t> protocol connection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91000" y="1828800"/>
            <a:ext cx="4478400" cy="365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System-level Exceptions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>
                <a:solidFill>
                  <a:schemeClr val="bg1"/>
                </a:solidFill>
              </a:rPr>
              <a:t>KeyboardInterrupt</a:t>
            </a:r>
            <a:r>
              <a:rPr lang="en-US" dirty="0" smtClean="0">
                <a:solidFill>
                  <a:schemeClr val="bg1"/>
                </a:solidFill>
              </a:rPr>
              <a:t> meaning</a:t>
            </a:r>
          </a:p>
          <a:p>
            <a:r>
              <a:rPr lang="en-US" dirty="0" err="1" smtClean="0">
                <a:solidFill>
                  <a:schemeClr val="bg1"/>
                </a:solidFill>
              </a:rPr>
              <a:t>SystemExit</a:t>
            </a:r>
            <a:r>
              <a:rPr lang="en-US" dirty="0" smtClean="0">
                <a:solidFill>
                  <a:schemeClr val="bg1"/>
                </a:solidFill>
              </a:rPr>
              <a:t> usage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Program termination signals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Controlled shutdown logic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3886200"/>
            <a:ext cx="5597012" cy="251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943600" y="2133600"/>
            <a:ext cx="25908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Other Common Built-in </a:t>
            </a:r>
            <a:r>
              <a:rPr lang="en-US" b="1" dirty="0" smtClean="0">
                <a:solidFill>
                  <a:schemeClr val="bg1"/>
                </a:solidFill>
              </a:rPr>
              <a:t>Exceptions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>
                <a:solidFill>
                  <a:schemeClr val="bg1"/>
                </a:solidFill>
              </a:rPr>
              <a:t>TypeError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err="1" smtClean="0">
                <a:solidFill>
                  <a:schemeClr val="bg1"/>
                </a:solidFill>
              </a:rPr>
              <a:t>vs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err="1" smtClean="0">
                <a:solidFill>
                  <a:schemeClr val="bg1"/>
                </a:solidFill>
              </a:rPr>
              <a:t>ValueError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err="1" smtClean="0">
                <a:solidFill>
                  <a:schemeClr val="bg1"/>
                </a:solidFill>
              </a:rPr>
              <a:t>ImportError</a:t>
            </a:r>
            <a:r>
              <a:rPr lang="en-US" dirty="0" smtClean="0">
                <a:solidFill>
                  <a:schemeClr val="bg1"/>
                </a:solidFill>
              </a:rPr>
              <a:t> and </a:t>
            </a:r>
            <a:r>
              <a:rPr lang="en-US" dirty="0" err="1" smtClean="0">
                <a:solidFill>
                  <a:schemeClr val="bg1"/>
                </a:solidFill>
              </a:rPr>
              <a:t>ModuleNotFoundError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err="1" smtClean="0">
                <a:solidFill>
                  <a:schemeClr val="bg1"/>
                </a:solidFill>
              </a:rPr>
              <a:t>RuntimeError</a:t>
            </a:r>
            <a:r>
              <a:rPr lang="en-US" dirty="0" smtClean="0">
                <a:solidFill>
                  <a:schemeClr val="bg1"/>
                </a:solidFill>
              </a:rPr>
              <a:t> overview</a:t>
            </a:r>
          </a:p>
          <a:p>
            <a:r>
              <a:rPr lang="en-US" dirty="0" err="1" smtClean="0">
                <a:solidFill>
                  <a:schemeClr val="bg1"/>
                </a:solidFill>
              </a:rPr>
              <a:t>RecursionError</a:t>
            </a:r>
            <a:r>
              <a:rPr lang="en-US" dirty="0" smtClean="0">
                <a:solidFill>
                  <a:schemeClr val="bg1"/>
                </a:solidFill>
              </a:rPr>
              <a:t> meaning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Summary &amp; Key Takeaways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Importance of knowing exceptions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Specific </a:t>
            </a:r>
            <a:r>
              <a:rPr lang="en-US" dirty="0" err="1" smtClean="0">
                <a:solidFill>
                  <a:schemeClr val="bg1"/>
                </a:solidFill>
              </a:rPr>
              <a:t>vs</a:t>
            </a:r>
            <a:r>
              <a:rPr lang="en-US" dirty="0" smtClean="0">
                <a:solidFill>
                  <a:schemeClr val="bg1"/>
                </a:solidFill>
              </a:rPr>
              <a:t> generic handling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Writing safer Python code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Debugging confidence boost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  <p:pic>
        <p:nvPicPr>
          <p:cNvPr id="1027" name="Picture 3" descr="D:\DataVerse Tutorials\YouTube Icon Images and Videos\vecteezy_subscribe-button-collection-png-design-subscribe-button_13473771.pn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-304800"/>
            <a:ext cx="6987382" cy="698738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796</TotalTime>
  <Words>408</Words>
  <Application>Microsoft Office PowerPoint</Application>
  <PresentationFormat>On-screen Show (4:3)</PresentationFormat>
  <Paragraphs>169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Python Built-in Exceptions</vt:lpstr>
      <vt:lpstr>What are Built-in Exceptions in Python?</vt:lpstr>
      <vt:lpstr>Why Understanding Built-in Exceptions Matters</vt:lpstr>
      <vt:lpstr>Python Exception Hierarchy </vt:lpstr>
      <vt:lpstr>BaseException</vt:lpstr>
      <vt:lpstr>Exception Class</vt:lpstr>
      <vt:lpstr>ArithmeticError Family</vt:lpstr>
      <vt:lpstr>ZeroDivisionError</vt:lpstr>
      <vt:lpstr>OverflowError</vt:lpstr>
      <vt:lpstr>FloatingPointError</vt:lpstr>
      <vt:lpstr>AssertionError</vt:lpstr>
      <vt:lpstr>AttributeError</vt:lpstr>
      <vt:lpstr>IndexError</vt:lpstr>
      <vt:lpstr>KeyError</vt:lpstr>
      <vt:lpstr>NameError</vt:lpstr>
      <vt:lpstr>MemoryError</vt:lpstr>
      <vt:lpstr>OSError and File-related Exceptions</vt:lpstr>
      <vt:lpstr>StopIteration</vt:lpstr>
      <vt:lpstr>System-level Exceptions</vt:lpstr>
      <vt:lpstr>Other Common Built-in Exceptions</vt:lpstr>
      <vt:lpstr>Summary &amp; Key Takeaways</vt:lpstr>
      <vt:lpstr>Slide 22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Sanyam Lawania</dc:creator>
  <cp:lastModifiedBy>Sanyam Lawania</cp:lastModifiedBy>
  <cp:revision>81</cp:revision>
  <dcterms:created xsi:type="dcterms:W3CDTF">2006-08-16T00:00:00Z</dcterms:created>
  <dcterms:modified xsi:type="dcterms:W3CDTF">2026-02-15T07:07:51Z</dcterms:modified>
</cp:coreProperties>
</file>